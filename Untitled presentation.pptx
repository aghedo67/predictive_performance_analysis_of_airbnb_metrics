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1" r:id="rId4"/>
    <p:sldMasterId id="214748373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IBM Plex Sans Light"/>
      <p:regular r:id="rId22"/>
      <p:bold r:id="rId23"/>
      <p:italic r:id="rId24"/>
      <p:boldItalic r:id="rId25"/>
    </p:embeddedFont>
    <p:embeddedFont>
      <p:font typeface="Arimo"/>
      <p:regular r:id="rId26"/>
      <p:bold r:id="rId27"/>
      <p:italic r:id="rId28"/>
      <p:boldItalic r:id="rId29"/>
    </p:embeddedFont>
    <p:embeddedFont>
      <p:font typeface="Arimo SemiBold"/>
      <p:regular r:id="rId30"/>
      <p:bold r:id="rId31"/>
      <p:italic r:id="rId32"/>
      <p:boldItalic r:id="rId33"/>
    </p:embeddedFont>
    <p:embeddedFont>
      <p:font typeface="IBM Plex Sans Medium"/>
      <p:regular r:id="rId34"/>
      <p:bold r:id="rId35"/>
      <p:italic r:id="rId36"/>
      <p:boldItalic r:id="rId37"/>
    </p:embeddedFont>
    <p:embeddedFont>
      <p:font typeface="Arimo Medium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Medium-italic.fntdata"/><Relationship Id="rId20" Type="http://schemas.openxmlformats.org/officeDocument/2006/relationships/font" Target="fonts/IBMPlexSans-italic.fntdata"/><Relationship Id="rId42" Type="http://schemas.openxmlformats.org/officeDocument/2006/relationships/font" Target="fonts/RobotoMono-regular.fntdata"/><Relationship Id="rId41" Type="http://schemas.openxmlformats.org/officeDocument/2006/relationships/font" Target="fonts/ArimoMedium-boldItalic.fntdata"/><Relationship Id="rId22" Type="http://schemas.openxmlformats.org/officeDocument/2006/relationships/font" Target="fonts/IBMPlexSansLight-regular.fntdata"/><Relationship Id="rId44" Type="http://schemas.openxmlformats.org/officeDocument/2006/relationships/font" Target="fonts/RobotoMono-italic.fntdata"/><Relationship Id="rId21" Type="http://schemas.openxmlformats.org/officeDocument/2006/relationships/font" Target="fonts/IBMPlexSans-boldItalic.fntdata"/><Relationship Id="rId43" Type="http://schemas.openxmlformats.org/officeDocument/2006/relationships/font" Target="fonts/RobotoMono-bold.fntdata"/><Relationship Id="rId24" Type="http://schemas.openxmlformats.org/officeDocument/2006/relationships/font" Target="fonts/IBMPlexSansLight-italic.fntdata"/><Relationship Id="rId23" Type="http://schemas.openxmlformats.org/officeDocument/2006/relationships/font" Target="fonts/IBMPlexSansLight-bold.fntdata"/><Relationship Id="rId45" Type="http://schemas.openxmlformats.org/officeDocument/2006/relationships/font" Target="fonts/RobotoMon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mo-regular.fntdata"/><Relationship Id="rId25" Type="http://schemas.openxmlformats.org/officeDocument/2006/relationships/font" Target="fonts/IBMPlexSansLight-boldItalic.fntdata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SemiBold-bold.fntdata"/><Relationship Id="rId30" Type="http://schemas.openxmlformats.org/officeDocument/2006/relationships/font" Target="fonts/Arimo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Arimo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ArimoSemiBold-italic.fntdata"/><Relationship Id="rId13" Type="http://schemas.openxmlformats.org/officeDocument/2006/relationships/slide" Target="slides/slide7.xml"/><Relationship Id="rId35" Type="http://schemas.openxmlformats.org/officeDocument/2006/relationships/font" Target="fonts/IBMPlexSansMedium-bold.fntdata"/><Relationship Id="rId12" Type="http://schemas.openxmlformats.org/officeDocument/2006/relationships/slide" Target="slides/slide6.xml"/><Relationship Id="rId34" Type="http://schemas.openxmlformats.org/officeDocument/2006/relationships/font" Target="fonts/IBMPlexSansMedium-regular.fntdata"/><Relationship Id="rId15" Type="http://schemas.openxmlformats.org/officeDocument/2006/relationships/slide" Target="slides/slide9.xml"/><Relationship Id="rId37" Type="http://schemas.openxmlformats.org/officeDocument/2006/relationships/font" Target="fonts/IBMPlexSans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BMPlexSansMedium-italic.fntdata"/><Relationship Id="rId17" Type="http://schemas.openxmlformats.org/officeDocument/2006/relationships/slide" Target="slides/slide11.xml"/><Relationship Id="rId39" Type="http://schemas.openxmlformats.org/officeDocument/2006/relationships/font" Target="fonts/ArimoMedium-bold.fntdata"/><Relationship Id="rId16" Type="http://schemas.openxmlformats.org/officeDocument/2006/relationships/slide" Target="slides/slide10.xml"/><Relationship Id="rId38" Type="http://schemas.openxmlformats.org/officeDocument/2006/relationships/font" Target="fonts/ArimoMedium-regular.fntdata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1c0ddfed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d1c0ddfed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d1c0ddfed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d1c0ddfed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d0f7e08b3b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d0f7e08b3b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d0f7e08b3b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d0f7e08b3b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d1c0ddfed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d1c0ddfed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d0f7e08b3b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d0f7e08b3b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d1c0ddfed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d1c0ddfe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d1c0ddfed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d1c0ddfed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d595ce94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d595ce94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d595ce940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d595ce940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d1c0ddfed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d1c0ddfed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2" name="Google Shape;12;p2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" name="Google Shape;21;p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26" name="Google Shape;26;p3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" name="Google Shape;48;p5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5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5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" name="Google Shape;52;p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8" name="Google Shape;68;p6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6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0" name="Google Shape;70;p6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6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6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6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6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4" name="Google Shape;94;p6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6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6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01" name="Google Shape;101;p7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05" name="Google Shape;105;p7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7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" name="Google Shape;107;p7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08" name="Google Shape;108;p7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7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0" name="Google Shape;110;p7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3" name="Google Shape;113;p7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7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6" name="Google Shape;116;p7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7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7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9" name="Google Shape;119;p7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7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2" name="Google Shape;122;p7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5" name="Google Shape;125;p7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7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7" name="Google Shape;127;p7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7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7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8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34" name="Google Shape;134;p8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8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8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8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51" name="Google Shape;151;p9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52" name="Google Shape;152;p9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4" name="Google Shape;154;p9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9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" name="Google Shape;156;p9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8" name="Google Shape;158;p9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6" name="Google Shape;166;p10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10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0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0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0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0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10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3" name="Google Shape;173;p10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4" name="Google Shape;174;p10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5" name="Google Shape;175;p1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0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0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11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" name="Google Shape;182;p11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1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1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6" name="Google Shape;186;p1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1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12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92" name="Google Shape;192;p12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193" name="Google Shape;193;p12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96" name="Google Shape;196;p12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98" name="Google Shape;198;p12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2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2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12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4" name="Google Shape;204;p12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1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2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3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3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4" name="Google Shape;214;p13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6" name="Google Shape;216;p13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13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3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3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8" name="Google Shape;228;p14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14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14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" name="Google Shape;231;p14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14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14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14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14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14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16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16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2" name="Google Shape;252;p16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16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6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17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7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7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7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9" name="Google Shape;269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17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18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18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18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18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18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18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18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18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18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" name="Google Shape;284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1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19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19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3" name="Google Shape;293;p19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5" name="Google Shape;295;p19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6" name="Google Shape;296;p19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7" name="Google Shape;297;p19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8" name="Google Shape;298;p19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299" name="Google Shape;299;p19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00" name="Google Shape;300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03" name="Google Shape;30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9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12" name="Google Shape;312;p20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18" name="Google Shape;318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23" name="Google Shape;323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27" name="Google Shape;327;p21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28" name="Google Shape;328;p2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31" name="Google Shape;331;p21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1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3" name="Google Shape;333;p21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36" name="Google Shape;33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0" name="Google Shape;35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55" name="Google Shape;35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5" name="Google Shape;38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2" name="Google Shape;39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3" name="Google Shape;39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5" name="Google Shape;39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4" name="Google Shape;40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7" name="Google Shape;4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8" name="Google Shape;40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2" name="Google Shape;41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7" name="Google Shape;4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439" name="Google Shape;439;p4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440" name="Google Shape;440;p4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43" name="Google Shape;443;p4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44" name="Google Shape;444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45" name="Google Shape;445;p4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448" name="Google Shape;448;p4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4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50" name="Google Shape;450;p4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1" name="Google Shape;451;p4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2" name="Google Shape;452;p4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453" name="Google Shape;453;p4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54" name="Google Shape;45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4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58" name="Google Shape;458;p4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59" name="Google Shape;459;p4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0" name="Google Shape;460;p4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1" name="Google Shape;461;p4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2" name="Google Shape;462;p4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3" name="Google Shape;463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4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65" name="Google Shape;465;p4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6" name="Google Shape;466;p4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7" name="Google Shape;467;p4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8" name="Google Shape;468;p4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69" name="Google Shape;469;p4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70" name="Google Shape;470;p4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71" name="Google Shape;471;p4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2" name="Google Shape;472;p4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3" name="Google Shape;473;p4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4" name="Google Shape;474;p4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5" name="Google Shape;475;p4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6" name="Google Shape;476;p4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7" name="Google Shape;477;p4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8" name="Google Shape;478;p4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1" name="Google Shape;481;p4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2" name="Google Shape;482;p4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3" name="Google Shape;483;p4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4" name="Google Shape;484;p4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5" name="Google Shape;485;p4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6" name="Google Shape;486;p4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7" name="Google Shape;487;p4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8" name="Google Shape;488;p4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89" name="Google Shape;489;p4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490" name="Google Shape;490;p4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1" name="Google Shape;491;p4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2" name="Google Shape;492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93" name="Google Shape;493;p4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4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7" name="Google Shape;497;p4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498" name="Google Shape;498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9" name="Google Shape;499;p4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0" name="Google Shape;500;p4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03" name="Google Shape;503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4" name="Google Shape;504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5" name="Google Shape;505;p4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4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507" name="Google Shape;507;p4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08" name="Google Shape;508;p4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09" name="Google Shape;509;p4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10" name="Google Shape;510;p4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511" name="Google Shape;511;p4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2" name="Google Shape;512;p4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3" name="Google Shape;513;p4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4" name="Google Shape;514;p4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5" name="Google Shape;515;p4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6" name="Google Shape;516;p4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7" name="Google Shape;517;p4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8" name="Google Shape;518;p4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21" name="Google Shape;521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2" name="Google Shape;522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3" name="Google Shape;523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51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526" name="Google Shape;526;p5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27" name="Google Shape;527;p5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0" name="Google Shape;530;p5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1" name="Google Shape;531;p5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2" name="Google Shape;532;p5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33" name="Google Shape;533;p5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4" name="Google Shape;534;p5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5" name="Google Shape;535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538" name="Google Shape;538;p5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539" name="Google Shape;539;p5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540" name="Google Shape;540;p5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41" name="Google Shape;541;p5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42" name="Google Shape;542;p5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3" name="Google Shape;543;p5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4" name="Google Shape;544;p5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7" name="Google Shape;547;p5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548" name="Google Shape;548;p5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49" name="Google Shape;549;p5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0" name="Google Shape;550;p5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1" name="Google Shape;551;p5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2" name="Google Shape;552;p5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5" name="Google Shape;555;p5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56" name="Google Shape;556;p5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7" name="Google Shape;557;p5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8" name="Google Shape;558;p5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61" name="Google Shape;561;p5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2" name="Google Shape;562;p5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3" name="Google Shape;563;p5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5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65" name="Google Shape;565;p5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66" name="Google Shape;566;p5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0" name="Google Shape;570;p5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1" name="Google Shape;571;p5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2" name="Google Shape;572;p5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73" name="Google Shape;573;p5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4" name="Google Shape;574;p5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5" name="Google Shape;575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5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7" name="Google Shape;577;p5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8" name="Google Shape;578;p5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9" name="Google Shape;579;p5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0" name="Google Shape;580;p5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1" name="Google Shape;581;p5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84" name="Google Shape;584;p5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85" name="Google Shape;585;p5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586" name="Google Shape;586;p5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587" name="Google Shape;587;p5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88" name="Google Shape;588;p5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9" name="Google Shape;589;p5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0" name="Google Shape;590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5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2" name="Google Shape;592;p5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3" name="Google Shape;593;p5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4" name="Google Shape;594;p5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5" name="Google Shape;595;p5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596" name="Google Shape;596;p5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599" name="Google Shape;599;p5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0" name="Google Shape;600;p5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1" name="Google Shape;601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5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3" name="Google Shape;603;p5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4" name="Google Shape;604;p5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5" name="Google Shape;605;p5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06" name="Google Shape;606;p5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7" name="Google Shape;607;p5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8" name="Google Shape;608;p5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9" name="Google Shape;609;p5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612" name="Google Shape;612;p6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613" name="Google Shape;613;p6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4" name="Google Shape;614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7" name="Google Shape;617;p6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18" name="Google Shape;618;p6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19" name="Google Shape;619;p6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20" name="Google Shape;620;p6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621" name="Google Shape;621;p6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622" name="Google Shape;622;p6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3" name="Google Shape;623;p6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624" name="Google Shape;624;p6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5" name="Google Shape;625;p6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626" name="Google Shape;626;p6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7" name="Google Shape;627;p6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628" name="Google Shape;628;p6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29" name="Google Shape;629;p6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0" name="Google Shape;630;p6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1" name="Google Shape;631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634" name="Google Shape;634;p6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635" name="Google Shape;635;p6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636" name="Google Shape;636;p6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7" name="Google Shape;637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0" name="Google Shape;640;p6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1" name="Google Shape;641;p6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2" name="Google Shape;642;p6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3" name="Google Shape;643;p6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4" name="Google Shape;644;p6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645" name="Google Shape;645;p6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646" name="Google Shape;646;p6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647" name="Google Shape;647;p6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648" name="Google Shape;648;p6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649" name="Google Shape;649;p6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650" name="Google Shape;650;p6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51" name="Google Shape;651;p6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652" name="Google Shape;652;p63"/>
          <p:cNvCxnSpPr>
            <a:stCxn id="650" idx="1"/>
            <a:endCxn id="650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6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4" name="Google Shape;654;p6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5" name="Google Shape;655;p6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6" name="Google Shape;656;p6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7" name="Google Shape;657;p6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8" name="Google Shape;658;p6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9" name="Google Shape;659;p6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0" name="Google Shape;660;p6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1" name="Google Shape;661;p6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2" name="Google Shape;662;p6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3" name="Google Shape;663;p6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4" name="Google Shape;664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6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668" name="Google Shape;668;p6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669" name="Google Shape;669;p6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0" name="Google Shape;670;p6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71" name="Google Shape;671;p6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2" name="Google Shape;672;p6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73" name="Google Shape;673;p6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74" name="Google Shape;674;p6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5" name="Google Shape;675;p6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6" name="Google Shape;676;p6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679" name="Google Shape;679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4" name="Google Shape;68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7" name="Google Shape;687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8" name="Google Shape;688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93" name="Google Shape;693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698" name="Google Shape;698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9" name="Google Shape;699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704" name="Google Shape;704;p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7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9" name="Google Shape;709;p7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0" name="Google Shape;710;p7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1" name="Google Shape;711;p7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2" name="Google Shape;712;p7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13" name="Google Shape;713;p7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6" name="Google Shape;716;p7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17" name="Google Shape;717;p7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20" name="Google Shape;720;p7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1" name="Google Shape;721;p7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2" name="Google Shape;722;p7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3" name="Google Shape;723;p7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6" name="Google Shape;726;p7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7" name="Google Shape;727;p7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28" name="Google Shape;728;p7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9" name="Google Shape;729;p7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0" name="Google Shape;730;p7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1" name="Google Shape;731;p7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4" name="Google Shape;734;p8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5" name="Google Shape;735;p8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6" name="Google Shape;736;p8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7" name="Google Shape;737;p8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738" name="Google Shape;738;p8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9" name="Google Shape;739;p8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0" name="Google Shape;740;p8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1" name="Google Shape;741;p8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4" name="Google Shape;744;p8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47" name="Google Shape;747;p8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48" name="Google Shape;748;p8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8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0" name="Google Shape;75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1" name="Google Shape;751;p8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2" name="Google Shape;752;p8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5" name="Google Shape;755;p8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56" name="Google Shape;756;p8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p8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8" name="Google Shape;758;p8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59" name="Google Shape;759;p8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0" name="Google Shape;760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1" name="Google Shape;761;p8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2" name="Google Shape;762;p8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3" name="Google Shape;763;p8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68" name="Google Shape;768;p8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69" name="Google Shape;769;p8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0" name="Google Shape;770;p8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1" name="Google Shape;771;p8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2" name="Google Shape;772;p8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8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4" name="Google Shape;774;p8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5" name="Google Shape;775;p8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76" name="Google Shape;776;p8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83.xml"/><Relationship Id="rId4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2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58.xml"/><Relationship Id="rId39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6" name="Google Shape;436;p4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  <p:sldLayoutId id="2147483728" r:id="rId40"/>
    <p:sldLayoutId id="2147483729" r:id="rId41"/>
    <p:sldLayoutId id="214748373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doi.org/10.1016/j.ijhm.2018.05.007" TargetMode="External"/><Relationship Id="rId5" Type="http://schemas.openxmlformats.org/officeDocument/2006/relationships/hyperlink" Target="https://arno.uvt.nl/show.cgi?fid=161302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www.breakingnews.ie/ireland/almost-6-5m-nights-spent-in-airbnb-style-accommodation-in-ireland-in-2023-1658162.html" TargetMode="External"/><Relationship Id="rId5" Type="http://schemas.openxmlformats.org/officeDocument/2006/relationships/hyperlink" Target="https://www.myirelandtour.com/travelguide/dublin/index.ph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predictiveperformanceanalysisofairbnbmetrics-4asnlpyjsjc42588x.streamlit.app/" TargetMode="External"/><Relationship Id="rId9" Type="http://schemas.openxmlformats.org/officeDocument/2006/relationships/image" Target="../media/image3.png"/><Relationship Id="rId5" Type="http://schemas.openxmlformats.org/officeDocument/2006/relationships/hyperlink" Target="https://predictiveperformanceanalysisofairbnbmetrics-8bysfmucc3l2hpevc.streamlit.app" TargetMode="External"/><Relationship Id="rId6" Type="http://schemas.openxmlformats.org/officeDocument/2006/relationships/hyperlink" Target="https://predictiveperformanceanalysisofairbnbmetrics-4asnlpyjsjc42588x.streamlit.app/" TargetMode="External"/><Relationship Id="rId7" Type="http://schemas.openxmlformats.org/officeDocument/2006/relationships/image" Target="../media/image5.png"/><Relationship Id="rId8" Type="http://schemas.openxmlformats.org/officeDocument/2006/relationships/hyperlink" Target="https://predictiveperformanceanalysisofairbnbmetrics-8bysfmucc3l2hpevc.streamlit.ap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doi.org/10.1016/j.ijhm.2018.05.007" TargetMode="External"/><Relationship Id="rId5" Type="http://schemas.openxmlformats.org/officeDocument/2006/relationships/hyperlink" Target="https://arno.uvt.nl/show.cgi?fid=161302" TargetMode="External"/><Relationship Id="rId6" Type="http://schemas.openxmlformats.org/officeDocument/2006/relationships/hyperlink" Target="http://breakingnew.ie" TargetMode="External"/><Relationship Id="rId7" Type="http://schemas.openxmlformats.org/officeDocument/2006/relationships/hyperlink" Target="https://www.breakingnews.ie/ireland/almost-6-5m-nights-spent-in-airbnb-style-accommodation-in-ireland-in-2023-1658162.html" TargetMode="External"/><Relationship Id="rId8" Type="http://schemas.openxmlformats.org/officeDocument/2006/relationships/hyperlink" Target="https://www.myirelandtour.com/travelguide/dublin/index.php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86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86"/>
          <p:cNvSpPr txBox="1"/>
          <p:nvPr>
            <p:ph type="title"/>
          </p:nvPr>
        </p:nvSpPr>
        <p:spPr>
          <a:xfrm>
            <a:off x="1027075" y="277500"/>
            <a:ext cx="76719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Predictive Performance Analysis of Airbnb Matrix</a:t>
            </a:r>
            <a:endParaRPr b="1"/>
          </a:p>
        </p:txBody>
      </p:sp>
      <p:sp>
        <p:nvSpPr>
          <p:cNvPr id="783" name="Google Shape;783;p86"/>
          <p:cNvSpPr txBox="1"/>
          <p:nvPr/>
        </p:nvSpPr>
        <p:spPr>
          <a:xfrm>
            <a:off x="1383225" y="2457675"/>
            <a:ext cx="67242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Emmanuel Osayande Aghedo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Viva Presentation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Department of Computer Science and Creative Technologies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Faculty of Environment and Technology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University of the West of England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 ID: 23016468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87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789" name="Google Shape;789;p8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8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8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2" name="Google Shape;792;p87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793" name="Google Shape;793;p8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8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p8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6" name="Google Shape;796;p87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797" name="Google Shape;797;p8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8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8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0" name="Google Shape;800;p87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801" name="Google Shape;801;p8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8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8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4" name="Google Shape;804;p87"/>
          <p:cNvSpPr txBox="1"/>
          <p:nvPr>
            <p:ph type="title"/>
          </p:nvPr>
        </p:nvSpPr>
        <p:spPr>
          <a:xfrm>
            <a:off x="436725" y="1231825"/>
            <a:ext cx="2301900" cy="21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Introduction</a:t>
            </a:r>
            <a:r>
              <a:rPr lang="en" sz="1500"/>
              <a:t>:</a:t>
            </a:r>
            <a:r>
              <a:rPr lang="en" sz="1700"/>
              <a:t>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Airbnb is an online platform that allows people to rent out their homes, apartments, or other properties to travellers looking for short-term accommodations. </a:t>
            </a:r>
            <a:endParaRPr/>
          </a:p>
        </p:txBody>
      </p:sp>
      <p:sp>
        <p:nvSpPr>
          <p:cNvPr id="805" name="Google Shape;805;p87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Objective 1: </a:t>
            </a:r>
            <a:r>
              <a:rPr lang="en" sz="1300"/>
              <a:t>Prediction</a:t>
            </a:r>
            <a:r>
              <a:rPr lang="en" sz="1300"/>
              <a:t> Model</a:t>
            </a:r>
            <a:endParaRPr sz="1300"/>
          </a:p>
        </p:txBody>
      </p:sp>
      <p:sp>
        <p:nvSpPr>
          <p:cNvPr id="806" name="Google Shape;806;p87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Develop a predictive model to predict optimal listings price and identify influential attributes.</a:t>
            </a:r>
            <a:endParaRPr sz="1200"/>
          </a:p>
        </p:txBody>
      </p:sp>
      <p:sp>
        <p:nvSpPr>
          <p:cNvPr id="807" name="Google Shape;807;p87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Objective 2: </a:t>
            </a:r>
            <a:r>
              <a:rPr lang="en" sz="1300"/>
              <a:t>Sentiment</a:t>
            </a:r>
            <a:r>
              <a:rPr lang="en" sz="1300"/>
              <a:t> analysis</a:t>
            </a:r>
            <a:endParaRPr sz="1300"/>
          </a:p>
        </p:txBody>
      </p:sp>
      <p:sp>
        <p:nvSpPr>
          <p:cNvPr id="808" name="Google Shape;808;p87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Analyze guest reviews and satisfaction to quantify </a:t>
            </a:r>
            <a:r>
              <a:rPr lang="en" sz="1200"/>
              <a:t>relationship</a:t>
            </a:r>
            <a:r>
              <a:rPr lang="en" sz="1200"/>
              <a:t> with </a:t>
            </a:r>
            <a:r>
              <a:rPr lang="en" sz="1200"/>
              <a:t>performance</a:t>
            </a:r>
            <a:r>
              <a:rPr lang="en" sz="1200"/>
              <a:t> trends.</a:t>
            </a:r>
            <a:endParaRPr sz="1200"/>
          </a:p>
        </p:txBody>
      </p:sp>
      <p:sp>
        <p:nvSpPr>
          <p:cNvPr id="809" name="Google Shape;809;p87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Objective 3: Recommender system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10" name="Google Shape;810;p87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Implement</a:t>
            </a:r>
            <a:r>
              <a:rPr lang="en" sz="1200"/>
              <a:t> collaborative filtering for optimized guest discovery based on listings traits.</a:t>
            </a:r>
            <a:endParaRPr sz="1200"/>
          </a:p>
        </p:txBody>
      </p:sp>
      <p:sp>
        <p:nvSpPr>
          <p:cNvPr id="811" name="Google Shape;811;p87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Objective 4: Actionable insights</a:t>
            </a:r>
            <a:endParaRPr sz="15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12" name="Google Shape;812;p87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Synthesises output into an interactive tool.</a:t>
            </a:r>
            <a:endParaRPr sz="1200"/>
          </a:p>
        </p:txBody>
      </p:sp>
      <p:pic>
        <p:nvPicPr>
          <p:cNvPr id="813" name="Google Shape;813;p87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87"/>
          <p:cNvSpPr txBox="1"/>
          <p:nvPr/>
        </p:nvSpPr>
        <p:spPr>
          <a:xfrm>
            <a:off x="2423700" y="146475"/>
            <a:ext cx="512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Introduction / </a:t>
            </a: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</a:t>
            </a: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r>
              <a:rPr lang="en" sz="26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26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5" name="Google Shape;815;p87"/>
          <p:cNvSpPr txBox="1"/>
          <p:nvPr>
            <p:ph type="title"/>
          </p:nvPr>
        </p:nvSpPr>
        <p:spPr>
          <a:xfrm>
            <a:off x="436725" y="3671525"/>
            <a:ext cx="2301900" cy="10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Aim: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Develop an integrated, data-driven framework to derive value from  Airbnb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88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88"/>
          <p:cNvSpPr txBox="1"/>
          <p:nvPr>
            <p:ph idx="4294967295" type="body"/>
          </p:nvPr>
        </p:nvSpPr>
        <p:spPr>
          <a:xfrm>
            <a:off x="277500" y="2043275"/>
            <a:ext cx="2176200" cy="17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Host:</a:t>
            </a:r>
            <a:r>
              <a:rPr lang="en" sz="1400"/>
              <a:t> Limited pricing tools; rely on social learning (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Xie et al., 2010</a:t>
            </a:r>
            <a:r>
              <a:rPr lang="en" sz="1400"/>
              <a:t>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Guests</a:t>
            </a:r>
            <a:r>
              <a:rPr lang="en" sz="1400"/>
              <a:t>:  Quality assessment difficulty &amp; info overload (</a:t>
            </a:r>
            <a:r>
              <a:rPr lang="en" sz="1400" u="sng">
                <a:solidFill>
                  <a:schemeClr val="hlink"/>
                </a:solidFill>
                <a:hlinkClick r:id="rId5"/>
              </a:rPr>
              <a:t>Mishara, 2021</a:t>
            </a:r>
            <a:r>
              <a:rPr lang="en" sz="1400"/>
              <a:t>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22" name="Google Shape;822;p88"/>
          <p:cNvSpPr txBox="1"/>
          <p:nvPr>
            <p:ph idx="4294967295" type="body"/>
          </p:nvPr>
        </p:nvSpPr>
        <p:spPr>
          <a:xfrm>
            <a:off x="3218013" y="1979375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Predictive modelling:</a:t>
            </a:r>
            <a:r>
              <a:rPr lang="en" sz="1400"/>
              <a:t> Actionable price predictions to optimize host revenue.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Recommender System:</a:t>
            </a:r>
            <a:r>
              <a:rPr lang="en" sz="1400"/>
              <a:t>  Personalised filtering to simplify the guest journey.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23" name="Google Shape;823;p88"/>
          <p:cNvSpPr txBox="1"/>
          <p:nvPr>
            <p:ph idx="4294967295" type="body"/>
          </p:nvPr>
        </p:nvSpPr>
        <p:spPr>
          <a:xfrm>
            <a:off x="6548375" y="2011325"/>
            <a:ext cx="1986900" cy="12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Prior studies treat price prediction and recommendation systems as independent silos (Xie et al., 2010; Mishara, 2021).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To develop a unified analytical framework that integrates these systems for a holistic marketplace experience.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88"/>
          <p:cNvSpPr txBox="1"/>
          <p:nvPr/>
        </p:nvSpPr>
        <p:spPr>
          <a:xfrm>
            <a:off x="913800" y="594375"/>
            <a:ext cx="82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Motivation / </a:t>
            </a:r>
            <a:r>
              <a:rPr lang="en" sz="32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Rational.</a:t>
            </a:r>
            <a:endParaRPr sz="32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5" name="Google Shape;825;p88"/>
          <p:cNvSpPr txBox="1"/>
          <p:nvPr/>
        </p:nvSpPr>
        <p:spPr>
          <a:xfrm>
            <a:off x="277500" y="1594300"/>
            <a:ext cx="271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  <a:endParaRPr b="1" sz="17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6" name="Google Shape;826;p88"/>
          <p:cNvSpPr txBox="1"/>
          <p:nvPr/>
        </p:nvSpPr>
        <p:spPr>
          <a:xfrm>
            <a:off x="3216750" y="1594300"/>
            <a:ext cx="271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</a:t>
            </a:r>
            <a:endParaRPr b="1" sz="17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7" name="Google Shape;827;p88"/>
          <p:cNvSpPr txBox="1"/>
          <p:nvPr/>
        </p:nvSpPr>
        <p:spPr>
          <a:xfrm>
            <a:off x="6548375" y="1594300"/>
            <a:ext cx="229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Goal</a:t>
            </a:r>
            <a:endParaRPr b="1" sz="17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89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89"/>
          <p:cNvSpPr txBox="1"/>
          <p:nvPr>
            <p:ph idx="4294967295" type="subTitle"/>
          </p:nvPr>
        </p:nvSpPr>
        <p:spPr>
          <a:xfrm>
            <a:off x="451175" y="1404975"/>
            <a:ext cx="24252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Inside Airbnb, a mission-driven, grassroots project providing transparent, non-commercial rental data.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Dublin was selected due to its high-density tourism profile and complex real estate market. 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BreakingNews.ie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2024 and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My Ireland Tour, n.d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Scope: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research utilizes two primary relational datasets: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89"/>
          <p:cNvSpPr txBox="1"/>
          <p:nvPr>
            <p:ph idx="3" type="subTitle"/>
          </p:nvPr>
        </p:nvSpPr>
        <p:spPr>
          <a:xfrm>
            <a:off x="3432000" y="3133675"/>
            <a:ext cx="2557500" cy="9936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Listings Dataset 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(listings.csv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Detailed attributes of each property.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Price, location (coordinates), Host characteristics property type, room type, and review scores.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89"/>
          <p:cNvSpPr txBox="1"/>
          <p:nvPr>
            <p:ph idx="4294967295" type="subTitle"/>
          </p:nvPr>
        </p:nvSpPr>
        <p:spPr>
          <a:xfrm>
            <a:off x="6385900" y="1294075"/>
            <a:ext cx="2557500" cy="1358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 Dataset (</a:t>
            </a:r>
            <a:r>
              <a:rPr b="1"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reviews.csv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Historical guest feedback and timestamps.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Reviewer ID, Date, and Comment text.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6" name="Google Shape;836;p89"/>
          <p:cNvSpPr txBox="1"/>
          <p:nvPr>
            <p:ph idx="4294967295" type="title"/>
          </p:nvPr>
        </p:nvSpPr>
        <p:spPr>
          <a:xfrm>
            <a:off x="1934400" y="310938"/>
            <a:ext cx="55527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900"/>
              <a:t>Data Description</a:t>
            </a:r>
            <a:endParaRPr b="1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90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90"/>
          <p:cNvSpPr/>
          <p:nvPr/>
        </p:nvSpPr>
        <p:spPr>
          <a:xfrm>
            <a:off x="92425" y="1382950"/>
            <a:ext cx="866700" cy="1285800"/>
          </a:xfrm>
          <a:prstGeom prst="can">
            <a:avLst>
              <a:gd fmla="val 25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Data Source</a:t>
            </a:r>
            <a:endParaRPr sz="12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(Inside Airbnb)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3" name="Google Shape;843;p90"/>
          <p:cNvSpPr/>
          <p:nvPr/>
        </p:nvSpPr>
        <p:spPr>
          <a:xfrm>
            <a:off x="1260525" y="1383000"/>
            <a:ext cx="866700" cy="1285800"/>
          </a:xfrm>
          <a:prstGeom prst="can">
            <a:avLst>
              <a:gd fmla="val 25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Merge Listings and Reviews data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4" name="Google Shape;844;p90"/>
          <p:cNvSpPr/>
          <p:nvPr/>
        </p:nvSpPr>
        <p:spPr>
          <a:xfrm>
            <a:off x="2428625" y="1789175"/>
            <a:ext cx="1653300" cy="469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rimo"/>
                <a:ea typeface="Arimo"/>
                <a:cs typeface="Arimo"/>
                <a:sym typeface="Arimo"/>
              </a:rPr>
              <a:t>Data Preprocessing and Cleaning</a:t>
            </a:r>
            <a:endParaRPr sz="13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5" name="Google Shape;845;p90"/>
          <p:cNvSpPr/>
          <p:nvPr/>
        </p:nvSpPr>
        <p:spPr>
          <a:xfrm>
            <a:off x="4351675" y="1768775"/>
            <a:ext cx="877500" cy="469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EDA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6" name="Google Shape;846;p90"/>
          <p:cNvSpPr/>
          <p:nvPr/>
        </p:nvSpPr>
        <p:spPr>
          <a:xfrm>
            <a:off x="5389738" y="1766975"/>
            <a:ext cx="1277400" cy="564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Data Aggregate and Encoding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7" name="Google Shape;847;p90"/>
          <p:cNvSpPr/>
          <p:nvPr/>
        </p:nvSpPr>
        <p:spPr>
          <a:xfrm>
            <a:off x="6843500" y="1768775"/>
            <a:ext cx="877500" cy="469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Predict Price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8" name="Google Shape;848;p90"/>
          <p:cNvSpPr/>
          <p:nvPr/>
        </p:nvSpPr>
        <p:spPr>
          <a:xfrm>
            <a:off x="7988950" y="1712350"/>
            <a:ext cx="1002600" cy="564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Model Evaluation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9" name="Google Shape;849;p90"/>
          <p:cNvSpPr/>
          <p:nvPr/>
        </p:nvSpPr>
        <p:spPr>
          <a:xfrm>
            <a:off x="1260525" y="3233650"/>
            <a:ext cx="866700" cy="1285800"/>
          </a:xfrm>
          <a:prstGeom prst="can">
            <a:avLst>
              <a:gd fmla="val 25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Guest Feedback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0" name="Google Shape;850;p90"/>
          <p:cNvSpPr/>
          <p:nvPr/>
        </p:nvSpPr>
        <p:spPr>
          <a:xfrm>
            <a:off x="2540825" y="3570400"/>
            <a:ext cx="1428900" cy="612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Sentiment Analysis (Vader)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1" name="Google Shape;851;p90"/>
          <p:cNvSpPr/>
          <p:nvPr/>
        </p:nvSpPr>
        <p:spPr>
          <a:xfrm>
            <a:off x="4496275" y="3641800"/>
            <a:ext cx="1168200" cy="469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Collaborative Filtering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2" name="Google Shape;852;p90"/>
          <p:cNvSpPr/>
          <p:nvPr/>
        </p:nvSpPr>
        <p:spPr>
          <a:xfrm>
            <a:off x="5998763" y="3641800"/>
            <a:ext cx="1168200" cy="469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Model Evaluation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3" name="Google Shape;853;p90"/>
          <p:cNvSpPr/>
          <p:nvPr/>
        </p:nvSpPr>
        <p:spPr>
          <a:xfrm>
            <a:off x="7823350" y="2668675"/>
            <a:ext cx="1277400" cy="564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Save Best Model (XGBoost)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4" name="Google Shape;854;p90"/>
          <p:cNvSpPr/>
          <p:nvPr/>
        </p:nvSpPr>
        <p:spPr>
          <a:xfrm>
            <a:off x="7501275" y="3570400"/>
            <a:ext cx="1428900" cy="612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mo"/>
                <a:ea typeface="Arimo"/>
                <a:cs typeface="Arimo"/>
                <a:sym typeface="Arimo"/>
              </a:rPr>
              <a:t>Save Best Model (BaselineOnly)</a:t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55" name="Google Shape;855;p90"/>
          <p:cNvCxnSpPr>
            <a:stCxn id="842" idx="4"/>
            <a:endCxn id="843" idx="2"/>
          </p:cNvCxnSpPr>
          <p:nvPr/>
        </p:nvCxnSpPr>
        <p:spPr>
          <a:xfrm>
            <a:off x="959125" y="2025850"/>
            <a:ext cx="30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90"/>
          <p:cNvCxnSpPr>
            <a:stCxn id="843" idx="4"/>
            <a:endCxn id="844" idx="1"/>
          </p:cNvCxnSpPr>
          <p:nvPr/>
        </p:nvCxnSpPr>
        <p:spPr>
          <a:xfrm flipH="1" rot="10800000">
            <a:off x="2127225" y="2023800"/>
            <a:ext cx="3015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90"/>
          <p:cNvCxnSpPr>
            <a:endCxn id="847" idx="1"/>
          </p:cNvCxnSpPr>
          <p:nvPr/>
        </p:nvCxnSpPr>
        <p:spPr>
          <a:xfrm flipH="1" rot="10800000">
            <a:off x="6667100" y="2003525"/>
            <a:ext cx="1764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90"/>
          <p:cNvCxnSpPr>
            <a:stCxn id="843" idx="3"/>
            <a:endCxn id="849" idx="1"/>
          </p:cNvCxnSpPr>
          <p:nvPr/>
        </p:nvCxnSpPr>
        <p:spPr>
          <a:xfrm>
            <a:off x="1693875" y="2668800"/>
            <a:ext cx="0" cy="5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9" name="Google Shape;859;p90"/>
          <p:cNvCxnSpPr>
            <a:stCxn id="849" idx="4"/>
            <a:endCxn id="850" idx="1"/>
          </p:cNvCxnSpPr>
          <p:nvPr/>
        </p:nvCxnSpPr>
        <p:spPr>
          <a:xfrm>
            <a:off x="2127225" y="3876550"/>
            <a:ext cx="41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0" name="Google Shape;860;p90"/>
          <p:cNvCxnSpPr>
            <a:stCxn id="850" idx="3"/>
            <a:endCxn id="851" idx="1"/>
          </p:cNvCxnSpPr>
          <p:nvPr/>
        </p:nvCxnSpPr>
        <p:spPr>
          <a:xfrm>
            <a:off x="3969725" y="3876550"/>
            <a:ext cx="52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1" name="Google Shape;861;p90"/>
          <p:cNvCxnSpPr>
            <a:stCxn id="851" idx="3"/>
            <a:endCxn id="852" idx="1"/>
          </p:cNvCxnSpPr>
          <p:nvPr/>
        </p:nvCxnSpPr>
        <p:spPr>
          <a:xfrm>
            <a:off x="5664475" y="3876550"/>
            <a:ext cx="33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2" name="Google Shape;862;p90"/>
          <p:cNvCxnSpPr>
            <a:stCxn id="852" idx="3"/>
            <a:endCxn id="854" idx="1"/>
          </p:cNvCxnSpPr>
          <p:nvPr/>
        </p:nvCxnSpPr>
        <p:spPr>
          <a:xfrm>
            <a:off x="7166963" y="3876550"/>
            <a:ext cx="33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90"/>
          <p:cNvCxnSpPr>
            <a:stCxn id="847" idx="3"/>
            <a:endCxn id="848" idx="1"/>
          </p:cNvCxnSpPr>
          <p:nvPr/>
        </p:nvCxnSpPr>
        <p:spPr>
          <a:xfrm flipH="1" rot="10800000">
            <a:off x="7721000" y="1994825"/>
            <a:ext cx="2679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4" name="Google Shape;864;p90"/>
          <p:cNvCxnSpPr>
            <a:stCxn id="844" idx="3"/>
            <a:endCxn id="845" idx="1"/>
          </p:cNvCxnSpPr>
          <p:nvPr/>
        </p:nvCxnSpPr>
        <p:spPr>
          <a:xfrm flipH="1" rot="10800000">
            <a:off x="4081925" y="2003525"/>
            <a:ext cx="2697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5" name="Google Shape;865;p90"/>
          <p:cNvCxnSpPr>
            <a:stCxn id="845" idx="3"/>
            <a:endCxn id="846" idx="1"/>
          </p:cNvCxnSpPr>
          <p:nvPr/>
        </p:nvCxnSpPr>
        <p:spPr>
          <a:xfrm>
            <a:off x="5229175" y="2003525"/>
            <a:ext cx="160500" cy="4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6" name="Google Shape;866;p90"/>
          <p:cNvSpPr txBox="1"/>
          <p:nvPr>
            <p:ph idx="4294967295" type="title"/>
          </p:nvPr>
        </p:nvSpPr>
        <p:spPr>
          <a:xfrm>
            <a:off x="2099100" y="317400"/>
            <a:ext cx="5039700" cy="8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900">
                <a:solidFill>
                  <a:srgbClr val="0A0A0A"/>
                </a:solidFill>
              </a:rPr>
              <a:t>Methodology &amp; Work Flow</a:t>
            </a:r>
            <a:endParaRPr b="1" sz="1900">
              <a:solidFill>
                <a:srgbClr val="0A0A0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867" name="Google Shape;867;p90"/>
          <p:cNvSpPr txBox="1"/>
          <p:nvPr>
            <p:ph idx="4294967295" type="title"/>
          </p:nvPr>
        </p:nvSpPr>
        <p:spPr>
          <a:xfrm>
            <a:off x="142025" y="4760150"/>
            <a:ext cx="6226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Data split: test_size=0.2, random_state=42</a:t>
            </a:r>
            <a:endParaRPr sz="1900"/>
          </a:p>
        </p:txBody>
      </p:sp>
      <p:cxnSp>
        <p:nvCxnSpPr>
          <p:cNvPr id="868" name="Google Shape;868;p90"/>
          <p:cNvCxnSpPr>
            <a:stCxn id="848" idx="2"/>
            <a:endCxn id="853" idx="0"/>
          </p:cNvCxnSpPr>
          <p:nvPr/>
        </p:nvCxnSpPr>
        <p:spPr>
          <a:xfrm flipH="1">
            <a:off x="8462050" y="2277250"/>
            <a:ext cx="28200" cy="3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91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91"/>
          <p:cNvSpPr txBox="1"/>
          <p:nvPr/>
        </p:nvSpPr>
        <p:spPr>
          <a:xfrm>
            <a:off x="365000" y="1494138"/>
            <a:ext cx="40722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Price Prediction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https://predictiveperformanceanalysisofairbnbmetrics-4asnlpyjsjc42588x.streamlit.app/</a:t>
            </a: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Click on the image below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75" name="Google Shape;875;p91"/>
          <p:cNvSpPr txBox="1"/>
          <p:nvPr/>
        </p:nvSpPr>
        <p:spPr>
          <a:xfrm>
            <a:off x="4812750" y="1408425"/>
            <a:ext cx="40722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Recommendation System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5"/>
              </a:rPr>
              <a:t>https://predictiveperformanceanalysisofairbnbmetrics-8bysfmucc3l2hpevc.streamlit.app</a:t>
            </a: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Click in the imaje below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76" name="Google Shape;876;p91"/>
          <p:cNvSpPr txBox="1"/>
          <p:nvPr/>
        </p:nvSpPr>
        <p:spPr>
          <a:xfrm>
            <a:off x="2932200" y="2285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</a:t>
            </a: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</a:t>
            </a: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 (</a:t>
            </a: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Artefact)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77" name="Google Shape;877;p91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775" y="2325500"/>
            <a:ext cx="3944650" cy="207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91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21975" y="2325500"/>
            <a:ext cx="4053752" cy="207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92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92"/>
          <p:cNvSpPr txBox="1"/>
          <p:nvPr>
            <p:ph idx="4294967295" type="title"/>
          </p:nvPr>
        </p:nvSpPr>
        <p:spPr>
          <a:xfrm>
            <a:off x="1934400" y="310938"/>
            <a:ext cx="55527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900"/>
              <a:t>Benefits / Limitation</a:t>
            </a:r>
            <a:endParaRPr b="1" sz="1900"/>
          </a:p>
        </p:txBody>
      </p:sp>
      <p:sp>
        <p:nvSpPr>
          <p:cNvPr id="885" name="Google Shape;885;p92"/>
          <p:cNvSpPr txBox="1"/>
          <p:nvPr>
            <p:ph idx="4294967295" type="title"/>
          </p:nvPr>
        </p:nvSpPr>
        <p:spPr>
          <a:xfrm>
            <a:off x="579950" y="1435350"/>
            <a:ext cx="55527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600"/>
              <a:t>Benefits of price prediction</a:t>
            </a:r>
            <a:endParaRPr b="1" sz="19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Revenue Optimization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Market Alignment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Real time decision support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Interpretability</a:t>
            </a:r>
            <a:endParaRPr sz="1600"/>
          </a:p>
        </p:txBody>
      </p:sp>
      <p:sp>
        <p:nvSpPr>
          <p:cNvPr id="886" name="Google Shape;886;p92"/>
          <p:cNvSpPr txBox="1"/>
          <p:nvPr>
            <p:ph idx="4294967295" type="title"/>
          </p:nvPr>
        </p:nvSpPr>
        <p:spPr>
          <a:xfrm>
            <a:off x="579950" y="3255200"/>
            <a:ext cx="4541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600"/>
              <a:t>Benefits of Recommendation system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Personalization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Reduced search time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Better Decision making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Business impact</a:t>
            </a:r>
            <a:endParaRPr sz="1600"/>
          </a:p>
        </p:txBody>
      </p:sp>
      <p:sp>
        <p:nvSpPr>
          <p:cNvPr id="887" name="Google Shape;887;p92"/>
          <p:cNvSpPr txBox="1"/>
          <p:nvPr/>
        </p:nvSpPr>
        <p:spPr>
          <a:xfrm>
            <a:off x="4320525" y="1229600"/>
            <a:ext cx="44283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Limitations of Price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Lack of 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external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factors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Potential bias in 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historical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data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 model may not generalize well outside dublin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These could be addressed in future work with richer data sets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92"/>
          <p:cNvSpPr txBox="1"/>
          <p:nvPr/>
        </p:nvSpPr>
        <p:spPr>
          <a:xfrm>
            <a:off x="4438200" y="3117900"/>
            <a:ext cx="44283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Limitations of Recommendation system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Cold start problems for new users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Dependance on historical interaction data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Lack of contextual factors like time or intent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These could be improved by introducing hybrid recommendation approaches.</a:t>
            </a:r>
            <a:endParaRPr b="1"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93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93"/>
          <p:cNvSpPr txBox="1"/>
          <p:nvPr/>
        </p:nvSpPr>
        <p:spPr>
          <a:xfrm>
            <a:off x="187650" y="1392600"/>
            <a:ext cx="7464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Work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/>
              <a:t>implement</a:t>
            </a:r>
            <a:r>
              <a:rPr lang="en"/>
              <a:t> deep learning approaches (e.g., neural collaborative filtering)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Expand analysis to multiple cities.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Incorporate real-time dynamic pricing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Develop hybrid recommendation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93"/>
          <p:cNvSpPr txBox="1"/>
          <p:nvPr/>
        </p:nvSpPr>
        <p:spPr>
          <a:xfrm>
            <a:off x="2932200" y="2285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Work / Tech Stack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6" name="Google Shape;896;p93"/>
          <p:cNvSpPr txBox="1"/>
          <p:nvPr/>
        </p:nvSpPr>
        <p:spPr>
          <a:xfrm>
            <a:off x="277500" y="2735263"/>
            <a:ext cx="7464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 Stack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/>
              <a:t>Python (Pandas, NumPy, Scikit-learn)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XGBoost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Surprise Library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NLP (Sentiment Analysis)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9070E"/>
              </a:buClr>
              <a:buSzPts val="1400"/>
              <a:buFont typeface="IBM Plex Sans"/>
              <a:buChar char="●"/>
            </a:pPr>
            <a:r>
              <a:rPr lang="en"/>
              <a:t>Streamlit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p94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94"/>
          <p:cNvSpPr txBox="1"/>
          <p:nvPr/>
        </p:nvSpPr>
        <p:spPr>
          <a:xfrm>
            <a:off x="2932200" y="228588"/>
            <a:ext cx="37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</a:t>
            </a:r>
            <a:endParaRPr b="1" sz="20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3" name="Google Shape;903;p94"/>
          <p:cNvSpPr txBox="1"/>
          <p:nvPr/>
        </p:nvSpPr>
        <p:spPr>
          <a:xfrm>
            <a:off x="323100" y="1075375"/>
            <a:ext cx="8497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Xie, K., Mao, Z abd Wu, J. (2019) ‘Learning from peers: The effect of sales history disclosure on peer-to-peer short-term rental purposes’, </a:t>
            </a:r>
            <a:r>
              <a:rPr i="1" lang="en" sz="1500"/>
              <a:t>internationaljournal of Hospitality Management. </a:t>
            </a:r>
            <a:r>
              <a:rPr lang="en" sz="1500"/>
              <a:t>[Online]. 76 (Part A), pp. 173-183. Available from: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https://doi.org/10.1016/j.ijhm.2018.05.007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Mishta, M., 2021. </a:t>
            </a:r>
            <a:r>
              <a:rPr i="1" lang="en" sz="1500"/>
              <a:t>Airbnb recommendation system using aspect-based sentiment analysis: hybrid approach. </a:t>
            </a:r>
            <a:r>
              <a:rPr lang="en" sz="1500"/>
              <a:t>MSc. Tilburg University, School of Humanities and Digital Sciences, Department of Cognitive Science &amp; Artificial Intelligence. Available at: </a:t>
            </a:r>
            <a:r>
              <a:rPr lang="en" sz="1500" u="sng">
                <a:solidFill>
                  <a:schemeClr val="hlink"/>
                </a:solidFill>
                <a:hlinkClick r:id="rId5"/>
              </a:rPr>
              <a:t>https://arno.uvt.nl/show.cgi?fid=161302</a:t>
            </a:r>
            <a:r>
              <a:rPr lang="en" sz="1500"/>
              <a:t>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BreakingNew.ie</a:t>
            </a:r>
            <a:r>
              <a:rPr lang="en" sz="1500"/>
              <a:t> (2024) </a:t>
            </a:r>
            <a:r>
              <a:rPr i="1" lang="en" sz="1500"/>
              <a:t>Almost 6.5m nights spent in Airbnb-style accommiodation in Ireland in 2023. Available form: </a:t>
            </a:r>
            <a:r>
              <a:rPr i="1" lang="en" sz="1500" u="sng">
                <a:solidFill>
                  <a:schemeClr val="hlink"/>
                </a:solidFill>
                <a:hlinkClick r:id="rId7"/>
              </a:rPr>
              <a:t>https://www.breakingnews.ie/ireland/almost-6-5m-nights-spent-in-airbnb-style-accommodation-in-ireland-in-2023-1658162.html</a:t>
            </a:r>
            <a:r>
              <a:rPr i="1" lang="en" sz="1500"/>
              <a:t> 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My Ireland Tour. (n.d). Dublin Travle Guide, Available from </a:t>
            </a:r>
            <a:r>
              <a:rPr lang="en" sz="1500" u="sng">
                <a:solidFill>
                  <a:schemeClr val="hlink"/>
                </a:solidFill>
                <a:hlinkClick r:id="rId8"/>
              </a:rPr>
              <a:t>https://www.myirelandtour.com/travelguide/dublin/index.php</a:t>
            </a:r>
            <a:r>
              <a:rPr lang="en" sz="1500"/>
              <a:t> </a:t>
            </a:r>
            <a:r>
              <a:rPr i="1" lang="en" sz="1500"/>
              <a:t>[Accessed 19 July 2025].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95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</p:txBody>
      </p:sp>
      <p:pic>
        <p:nvPicPr>
          <p:cNvPr id="909" name="Google Shape;909;p95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4" name="Google Shape;914;p96"/>
          <p:cNvCxnSpPr/>
          <p:nvPr/>
        </p:nvCxnSpPr>
        <p:spPr>
          <a:xfrm>
            <a:off x="4742425" y="2553350"/>
            <a:ext cx="0" cy="2590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96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916" name="Google Shape;916;p96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aghedoemmanuel67@yahoo.com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96" title="my-uwe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" y="81675"/>
            <a:ext cx="1002572" cy="9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