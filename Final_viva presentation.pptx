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1" r:id="rId4"/>
    <p:sldMasterId id="214748373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IBM Plex Sans Light"/>
      <p:regular r:id="rId25"/>
      <p:bold r:id="rId26"/>
      <p:italic r:id="rId27"/>
      <p:boldItalic r:id="rId28"/>
    </p:embeddedFont>
    <p:embeddedFont>
      <p:font typeface="Arimo"/>
      <p:regular r:id="rId29"/>
      <p:bold r:id="rId30"/>
      <p:italic r:id="rId31"/>
      <p:boldItalic r:id="rId32"/>
    </p:embeddedFont>
    <p:embeddedFont>
      <p:font typeface="Arimo SemiBold"/>
      <p:regular r:id="rId33"/>
      <p:bold r:id="rId34"/>
      <p:italic r:id="rId35"/>
      <p:boldItalic r:id="rId36"/>
    </p:embeddedFont>
    <p:embeddedFont>
      <p:font typeface="IBM Plex Sans Medium"/>
      <p:regular r:id="rId37"/>
      <p:bold r:id="rId38"/>
      <p:italic r:id="rId39"/>
      <p:boldItalic r:id="rId40"/>
    </p:embeddedFont>
    <p:embeddedFont>
      <p:font typeface="Arimo Medium"/>
      <p:regular r:id="rId41"/>
      <p:bold r:id="rId42"/>
      <p:italic r:id="rId43"/>
      <p:boldItalic r:id="rId44"/>
    </p:embeddedFon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Medium-boldItalic.fntdata"/><Relationship Id="rId20" Type="http://schemas.openxmlformats.org/officeDocument/2006/relationships/slide" Target="slides/slide14.xml"/><Relationship Id="rId42" Type="http://schemas.openxmlformats.org/officeDocument/2006/relationships/font" Target="fonts/ArimoMedium-bold.fntdata"/><Relationship Id="rId41" Type="http://schemas.openxmlformats.org/officeDocument/2006/relationships/font" Target="fonts/ArimoMedium-regular.fntdata"/><Relationship Id="rId22" Type="http://schemas.openxmlformats.org/officeDocument/2006/relationships/font" Target="fonts/IBMPlexSans-bold.fntdata"/><Relationship Id="rId44" Type="http://schemas.openxmlformats.org/officeDocument/2006/relationships/font" Target="fonts/ArimoMedium-boldItalic.fntdata"/><Relationship Id="rId21" Type="http://schemas.openxmlformats.org/officeDocument/2006/relationships/font" Target="fonts/IBMPlexSans-regular.fntdata"/><Relationship Id="rId43" Type="http://schemas.openxmlformats.org/officeDocument/2006/relationships/font" Target="fonts/ArimoMedium-italic.fntdata"/><Relationship Id="rId24" Type="http://schemas.openxmlformats.org/officeDocument/2006/relationships/font" Target="fonts/IBMPlexSans-boldItalic.fntdata"/><Relationship Id="rId46" Type="http://schemas.openxmlformats.org/officeDocument/2006/relationships/font" Target="fonts/RobotoMono-bold.fntdata"/><Relationship Id="rId23" Type="http://schemas.openxmlformats.org/officeDocument/2006/relationships/font" Target="fonts/IBMPlexSans-italic.fntdata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BMPlexSansLight-bold.fntdata"/><Relationship Id="rId48" Type="http://schemas.openxmlformats.org/officeDocument/2006/relationships/font" Target="fonts/RobotoMono-boldItalic.fntdata"/><Relationship Id="rId25" Type="http://schemas.openxmlformats.org/officeDocument/2006/relationships/font" Target="fonts/IBMPlexSansLight-regular.fntdata"/><Relationship Id="rId47" Type="http://schemas.openxmlformats.org/officeDocument/2006/relationships/font" Target="fonts/RobotoMono-italic.fntdata"/><Relationship Id="rId28" Type="http://schemas.openxmlformats.org/officeDocument/2006/relationships/font" Target="fonts/IBMPlexSansLight-boldItalic.fntdata"/><Relationship Id="rId27" Type="http://schemas.openxmlformats.org/officeDocument/2006/relationships/font" Target="fonts/IBMPlexSans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-italic.fntdata"/><Relationship Id="rId30" Type="http://schemas.openxmlformats.org/officeDocument/2006/relationships/font" Target="fonts/Arimo-bold.fntdata"/><Relationship Id="rId11" Type="http://schemas.openxmlformats.org/officeDocument/2006/relationships/slide" Target="slides/slide5.xml"/><Relationship Id="rId33" Type="http://schemas.openxmlformats.org/officeDocument/2006/relationships/font" Target="fonts/Arimo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Arimo-boldItalic.fntdata"/><Relationship Id="rId13" Type="http://schemas.openxmlformats.org/officeDocument/2006/relationships/slide" Target="slides/slide7.xml"/><Relationship Id="rId35" Type="http://schemas.openxmlformats.org/officeDocument/2006/relationships/font" Target="fonts/ArimoSemiBold-italic.fntdata"/><Relationship Id="rId12" Type="http://schemas.openxmlformats.org/officeDocument/2006/relationships/slide" Target="slides/slide6.xml"/><Relationship Id="rId34" Type="http://schemas.openxmlformats.org/officeDocument/2006/relationships/font" Target="fonts/ArimoSemiBold-bold.fntdata"/><Relationship Id="rId15" Type="http://schemas.openxmlformats.org/officeDocument/2006/relationships/slide" Target="slides/slide9.xml"/><Relationship Id="rId37" Type="http://schemas.openxmlformats.org/officeDocument/2006/relationships/font" Target="fonts/IBMPlexSansMedium-regular.fntdata"/><Relationship Id="rId14" Type="http://schemas.openxmlformats.org/officeDocument/2006/relationships/slide" Target="slides/slide8.xml"/><Relationship Id="rId36" Type="http://schemas.openxmlformats.org/officeDocument/2006/relationships/font" Target="fonts/ArimoSemi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IBMPlexSansMedium-italic.fntdata"/><Relationship Id="rId16" Type="http://schemas.openxmlformats.org/officeDocument/2006/relationships/slide" Target="slides/slide10.xml"/><Relationship Id="rId38" Type="http://schemas.openxmlformats.org/officeDocument/2006/relationships/font" Target="fonts/IBMPlexSans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d1c0ddfed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d1c0ddfed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d0f7e08b3b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d0f7e08b3b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d1c0ddfed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d1c0ddfed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d0f7e08b3b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d0f7e08b3b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d0f7e08b3b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d0f7e08b3b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d0f7e08b3b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d0f7e08b3b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d0f7e08b3b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d0f7e08b3b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d1c0ddfed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d1c0ddfed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d26b847f0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d26b847f0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d1c0ddfed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d1c0ddfed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d1c0ddfed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d1c0ddfed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d1c0ddfed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d1c0ddfed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d1c0ddfed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d1c0ddfed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d1c0ddfed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d1c0ddfed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2" name="Google Shape;12;p2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3" name="Google Shape;13;p2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" name="Google Shape;15;p2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7" name="Google Shape;17;p2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" name="Google Shape;21;p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26" name="Google Shape;26;p3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8" name="Google Shape;48;p5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5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" name="Google Shape;50;p5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2" name="Google Shape;52;p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5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8" name="Google Shape;68;p6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6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0" name="Google Shape;70;p6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6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6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6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6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6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6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6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6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0" name="Google Shape;90;p6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1" name="Google Shape;91;p6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6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3" name="Google Shape;93;p6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4" name="Google Shape;94;p6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6" name="Google Shape;96;p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6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6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01" name="Google Shape;101;p7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05" name="Google Shape;105;p7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" name="Google Shape;106;p7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" name="Google Shape;107;p7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08" name="Google Shape;108;p7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7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0" name="Google Shape;110;p7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7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3" name="Google Shape;113;p7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7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6" name="Google Shape;116;p7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7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7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9" name="Google Shape;119;p7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7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7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2" name="Google Shape;122;p7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7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5" name="Google Shape;125;p7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7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7" name="Google Shape;127;p7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7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7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8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134" name="Google Shape;134;p8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42" name="Google Shape;142;p8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p8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8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5" name="Google Shape;145;p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6" name="Google Shape;146;p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8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8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51" name="Google Shape;151;p9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52" name="Google Shape;152;p9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54" name="Google Shape;154;p9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9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" name="Google Shape;156;p9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8" name="Google Shape;158;p9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0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6" name="Google Shape;166;p10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10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0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0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0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0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10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3" name="Google Shape;173;p10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4" name="Google Shape;174;p10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5" name="Google Shape;175;p1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6" name="Google Shape;176;p1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0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0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11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2" name="Google Shape;182;p11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1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1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5" name="Google Shape;185;p1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6" name="Google Shape;186;p1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1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11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12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92" name="Google Shape;192;p12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193" name="Google Shape;193;p12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96" name="Google Shape;196;p12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12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98" name="Google Shape;198;p12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2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2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2" name="Google Shape;202;p12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3" name="Google Shape;203;p12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4" name="Google Shape;204;p12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5" name="Google Shape;205;p1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1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12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2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3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3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4" name="Google Shape;214;p13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5" name="Google Shape;215;p13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6" name="Google Shape;216;p13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8" name="Google Shape;218;p13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9" name="Google Shape;219;p13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1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13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3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8" name="Google Shape;228;p14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14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14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" name="Google Shape;231;p14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14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3" name="Google Shape;233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4" name="Google Shape;234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14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" name="Google Shape;236;p14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14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14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" name="Google Shape;239;p14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0" name="Google Shape;250;p16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16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2" name="Google Shape;252;p16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16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6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16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16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17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7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7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7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9" name="Google Shape;269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17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18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18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18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18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18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18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18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18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18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4" name="Google Shape;284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18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6" name="Google Shape;286;p18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8" name="Google Shape;288;p19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19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19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2" name="Google Shape;292;p19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3" name="Google Shape;293;p19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4" name="Google Shape;294;p19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5" name="Google Shape;295;p19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6" name="Google Shape;296;p19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7" name="Google Shape;297;p19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8" name="Google Shape;298;p19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299" name="Google Shape;299;p19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00" name="Google Shape;300;p19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03" name="Google Shape;30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4" name="Google Shape;30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19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19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0" name="Google Shape;31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1" name="Google Shape;311;p20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12" name="Google Shape;312;p20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18" name="Google Shape;318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23" name="Google Shape;323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6" name="Google Shape;326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27" name="Google Shape;327;p21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28" name="Google Shape;328;p2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31" name="Google Shape;331;p21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21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3" name="Google Shape;333;p21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36" name="Google Shape;33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4" name="Google Shape;34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50" name="Google Shape;35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55" name="Google Shape;355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7" name="Google Shape;37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85" name="Google Shape;38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2" name="Google Shape;39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3" name="Google Shape;39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95" name="Google Shape;39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4" name="Google Shape;40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7" name="Google Shape;40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8" name="Google Shape;40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2" name="Google Shape;41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5" name="Google Shape;41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7" name="Google Shape;4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1" name="Google Shape;43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439" name="Google Shape;439;p4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440" name="Google Shape;440;p4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4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4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443" name="Google Shape;443;p4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444" name="Google Shape;444;p4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445" name="Google Shape;445;p4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4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448" name="Google Shape;448;p4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4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50" name="Google Shape;450;p4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1" name="Google Shape;451;p4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2" name="Google Shape;452;p4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453" name="Google Shape;453;p4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54" name="Google Shape;454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4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58" name="Google Shape;458;p4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59" name="Google Shape;459;p4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60" name="Google Shape;460;p4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61" name="Google Shape;461;p4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62" name="Google Shape;462;p4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63" name="Google Shape;463;p4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4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65" name="Google Shape;465;p4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66" name="Google Shape;466;p4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67" name="Google Shape;467;p4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68" name="Google Shape;468;p4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69" name="Google Shape;469;p4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70" name="Google Shape;470;p4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71" name="Google Shape;471;p4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2" name="Google Shape;472;p4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3" name="Google Shape;473;p4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4" name="Google Shape;474;p4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5" name="Google Shape;475;p4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6" name="Google Shape;476;p4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7" name="Google Shape;477;p4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8" name="Google Shape;478;p4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1" name="Google Shape;481;p4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2" name="Google Shape;482;p4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3" name="Google Shape;483;p4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4" name="Google Shape;484;p4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5" name="Google Shape;485;p4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86" name="Google Shape;486;p4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87" name="Google Shape;487;p4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88" name="Google Shape;488;p4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89" name="Google Shape;489;p4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90" name="Google Shape;490;p4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1" name="Google Shape;491;p4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2" name="Google Shape;492;p4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93" name="Google Shape;493;p4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4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7" name="Google Shape;497;p4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98" name="Google Shape;498;p4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9" name="Google Shape;499;p4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0" name="Google Shape;500;p4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03" name="Google Shape;503;p4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4" name="Google Shape;504;p4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5" name="Google Shape;505;p4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4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507" name="Google Shape;507;p4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508" name="Google Shape;508;p4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509" name="Google Shape;509;p4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510" name="Google Shape;510;p4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511" name="Google Shape;511;p4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2" name="Google Shape;512;p4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3" name="Google Shape;513;p4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4" name="Google Shape;514;p4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5" name="Google Shape;515;p4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6" name="Google Shape;516;p4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7" name="Google Shape;517;p4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8" name="Google Shape;518;p4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21" name="Google Shape;521;p5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2" name="Google Shape;522;p5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3" name="Google Shape;523;p5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51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526" name="Google Shape;526;p5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27" name="Google Shape;527;p5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0" name="Google Shape;530;p5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1" name="Google Shape;531;p5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2" name="Google Shape;532;p5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33" name="Google Shape;533;p5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4" name="Google Shape;534;p5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5" name="Google Shape;535;p5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538" name="Google Shape;538;p5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539" name="Google Shape;539;p5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540" name="Google Shape;540;p5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41" name="Google Shape;541;p5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42" name="Google Shape;542;p5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3" name="Google Shape;543;p5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4" name="Google Shape;544;p5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7" name="Google Shape;547;p5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548" name="Google Shape;548;p5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49" name="Google Shape;549;p5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50" name="Google Shape;550;p5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1" name="Google Shape;551;p5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2" name="Google Shape;552;p5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55" name="Google Shape;555;p5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56" name="Google Shape;556;p5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7" name="Google Shape;557;p5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8" name="Google Shape;558;p5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61" name="Google Shape;561;p5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2" name="Google Shape;562;p5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3" name="Google Shape;563;p5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5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65" name="Google Shape;565;p5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66" name="Google Shape;566;p5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0" name="Google Shape;570;p5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1" name="Google Shape;571;p5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2" name="Google Shape;572;p5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73" name="Google Shape;573;p5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4" name="Google Shape;574;p5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5" name="Google Shape;575;p5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5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77" name="Google Shape;577;p5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78" name="Google Shape;578;p5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79" name="Google Shape;579;p5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0" name="Google Shape;580;p5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1" name="Google Shape;581;p5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584" name="Google Shape;584;p5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585" name="Google Shape;585;p5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586" name="Google Shape;586;p5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587" name="Google Shape;587;p5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88" name="Google Shape;588;p5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9" name="Google Shape;589;p5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90" name="Google Shape;590;p5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5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2" name="Google Shape;592;p5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3" name="Google Shape;593;p5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4" name="Google Shape;594;p5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5" name="Google Shape;595;p5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6" name="Google Shape;596;p5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99" name="Google Shape;599;p5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0" name="Google Shape;600;p5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1" name="Google Shape;601;p5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5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3" name="Google Shape;603;p5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4" name="Google Shape;604;p5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5" name="Google Shape;605;p5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6" name="Google Shape;606;p5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7" name="Google Shape;607;p5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8" name="Google Shape;608;p5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9" name="Google Shape;609;p5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612" name="Google Shape;612;p6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613" name="Google Shape;613;p6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14" name="Google Shape;614;p6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17" name="Google Shape;617;p6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618" name="Google Shape;618;p6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619" name="Google Shape;619;p6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620" name="Google Shape;620;p6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621" name="Google Shape;621;p6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22" name="Google Shape;622;p6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3" name="Google Shape;623;p6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624" name="Google Shape;624;p6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5" name="Google Shape;625;p6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626" name="Google Shape;626;p6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7" name="Google Shape;627;p6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628" name="Google Shape;628;p6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29" name="Google Shape;629;p6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0" name="Google Shape;630;p6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1" name="Google Shape;631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634" name="Google Shape;634;p6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635" name="Google Shape;635;p6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636" name="Google Shape;636;p6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7" name="Google Shape;637;p6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0" name="Google Shape;640;p6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1" name="Google Shape;641;p6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2" name="Google Shape;642;p6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3" name="Google Shape;643;p6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4" name="Google Shape;644;p6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645" name="Google Shape;645;p6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646" name="Google Shape;646;p6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647" name="Google Shape;647;p6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648" name="Google Shape;648;p6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649" name="Google Shape;649;p6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650" name="Google Shape;650;p6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51" name="Google Shape;651;p6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652" name="Google Shape;652;p63"/>
          <p:cNvCxnSpPr>
            <a:stCxn id="650" idx="1"/>
            <a:endCxn id="650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6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4" name="Google Shape;654;p6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5" name="Google Shape;655;p6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6" name="Google Shape;656;p6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7" name="Google Shape;657;p6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8" name="Google Shape;658;p6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9" name="Google Shape;659;p6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0" name="Google Shape;660;p6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1" name="Google Shape;661;p6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2" name="Google Shape;662;p6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3" name="Google Shape;663;p6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4" name="Google Shape;664;p6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6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668" name="Google Shape;668;p6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669" name="Google Shape;669;p6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70" name="Google Shape;670;p6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71" name="Google Shape;671;p6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72" name="Google Shape;672;p6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73" name="Google Shape;673;p6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74" name="Google Shape;674;p6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75" name="Google Shape;675;p6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76" name="Google Shape;676;p6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679" name="Google Shape;679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4" name="Google Shape;684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7" name="Google Shape;687;p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8" name="Google Shape;688;p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93" name="Google Shape;693;p7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698" name="Google Shape;698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9" name="Google Shape;699;p7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704" name="Google Shape;704;p7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7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9" name="Google Shape;709;p7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0" name="Google Shape;710;p7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1" name="Google Shape;711;p7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2" name="Google Shape;712;p7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3" name="Google Shape;713;p7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6" name="Google Shape;716;p7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17" name="Google Shape;717;p7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720" name="Google Shape;720;p7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1" name="Google Shape;721;p7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2" name="Google Shape;722;p7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3" name="Google Shape;723;p7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6" name="Google Shape;726;p7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7" name="Google Shape;727;p7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728" name="Google Shape;728;p7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9" name="Google Shape;729;p7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0" name="Google Shape;730;p7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1" name="Google Shape;731;p7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4" name="Google Shape;734;p8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5" name="Google Shape;735;p8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6" name="Google Shape;736;p8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7" name="Google Shape;737;p8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738" name="Google Shape;738;p8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9" name="Google Shape;739;p8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0" name="Google Shape;740;p8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1" name="Google Shape;741;p8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4" name="Google Shape;744;p8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47" name="Google Shape;747;p8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48" name="Google Shape;748;p8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p8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0" name="Google Shape;750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1" name="Google Shape;751;p8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2" name="Google Shape;752;p8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5" name="Google Shape;755;p8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56" name="Google Shape;756;p8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57" name="Google Shape;757;p8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8" name="Google Shape;758;p8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59" name="Google Shape;759;p8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60" name="Google Shape;760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1" name="Google Shape;761;p8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2" name="Google Shape;762;p8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3" name="Google Shape;763;p8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68" name="Google Shape;768;p8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69" name="Google Shape;769;p8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0" name="Google Shape;770;p8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1" name="Google Shape;771;p8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2" name="Google Shape;772;p8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8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4" name="Google Shape;774;p8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5" name="Google Shape;775;p8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6" name="Google Shape;776;p8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61.xml"/><Relationship Id="rId42" Type="http://schemas.openxmlformats.org/officeDocument/2006/relationships/slideLayout" Target="../slideLayouts/slideLayout83.xml"/><Relationship Id="rId4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62.xml"/><Relationship Id="rId43" Type="http://schemas.openxmlformats.org/officeDocument/2006/relationships/theme" Target="../theme/theme3.xml"/><Relationship Id="rId24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68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70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55.xml"/><Relationship Id="rId3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58.xml"/><Relationship Id="rId39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57.xml"/><Relationship Id="rId3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6" name="Google Shape;436;p4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  <p:sldLayoutId id="2147483724" r:id="rId36"/>
    <p:sldLayoutId id="2147483725" r:id="rId37"/>
    <p:sldLayoutId id="2147483726" r:id="rId38"/>
    <p:sldLayoutId id="2147483727" r:id="rId39"/>
    <p:sldLayoutId id="2147483728" r:id="rId40"/>
    <p:sldLayoutId id="2147483729" r:id="rId41"/>
    <p:sldLayoutId id="214748373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s://predictiveperformanceanalysisofairbnbmetrics-4asnlpyjsjc42588x.streamlit.app/" TargetMode="External"/><Relationship Id="rId9" Type="http://schemas.openxmlformats.org/officeDocument/2006/relationships/image" Target="../media/image3.png"/><Relationship Id="rId5" Type="http://schemas.openxmlformats.org/officeDocument/2006/relationships/hyperlink" Target="https://predictiveperformanceanalysisofairbnbmetrics-8bysfmucc3l2hpevc.streamlit.app" TargetMode="External"/><Relationship Id="rId6" Type="http://schemas.openxmlformats.org/officeDocument/2006/relationships/hyperlink" Target="https://predictiveperformanceanalysisofairbnbmetrics-4asnlpyjsjc42588x.streamlit.app/" TargetMode="External"/><Relationship Id="rId7" Type="http://schemas.openxmlformats.org/officeDocument/2006/relationships/image" Target="../media/image9.png"/><Relationship Id="rId8" Type="http://schemas.openxmlformats.org/officeDocument/2006/relationships/hyperlink" Target="https://predictiveperformanceanalysisofairbnbmetrics-8bysfmucc3l2hpevc.streamlit.app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86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86"/>
          <p:cNvSpPr txBox="1"/>
          <p:nvPr>
            <p:ph type="title"/>
          </p:nvPr>
        </p:nvSpPr>
        <p:spPr>
          <a:xfrm>
            <a:off x="1027075" y="277500"/>
            <a:ext cx="76719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Predictive Performance Analysis of Airbnb Matrix</a:t>
            </a:r>
            <a:endParaRPr b="1"/>
          </a:p>
        </p:txBody>
      </p:sp>
      <p:sp>
        <p:nvSpPr>
          <p:cNvPr id="783" name="Google Shape;783;p86"/>
          <p:cNvSpPr txBox="1"/>
          <p:nvPr/>
        </p:nvSpPr>
        <p:spPr>
          <a:xfrm>
            <a:off x="1383225" y="2457675"/>
            <a:ext cx="67242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Emmanuel Osayande Aghedo</a:t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Viva Presentation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Department of Computer Science and Creative Technologies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Faculty of Environment and Technology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University of the West of England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 ID: 23016468</a:t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87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946274" cy="9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87"/>
          <p:cNvSpPr txBox="1"/>
          <p:nvPr/>
        </p:nvSpPr>
        <p:spPr>
          <a:xfrm>
            <a:off x="1153625" y="1594475"/>
            <a:ext cx="6480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Airbnb is an online platform that allows people to rent out their homes, apartments, or other properties to travellers looking for short-term accommodations.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company was founded in 2008 and has since grown into one of the largest and well-known names in the hospitality and travel  industry.</a:t>
            </a:r>
            <a:endParaRPr sz="1500"/>
          </a:p>
        </p:txBody>
      </p:sp>
      <p:sp>
        <p:nvSpPr>
          <p:cNvPr id="790" name="Google Shape;790;p87"/>
          <p:cNvSpPr txBox="1"/>
          <p:nvPr/>
        </p:nvSpPr>
        <p:spPr>
          <a:xfrm>
            <a:off x="913800" y="594375"/>
            <a:ext cx="82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Introduction</a:t>
            </a:r>
            <a:endParaRPr sz="32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795;p88"/>
          <p:cNvGrpSpPr/>
          <p:nvPr/>
        </p:nvGrpSpPr>
        <p:grpSpPr>
          <a:xfrm>
            <a:off x="4970338" y="851918"/>
            <a:ext cx="644025" cy="121200"/>
            <a:chOff x="5238750" y="1016375"/>
            <a:chExt cx="644025" cy="121200"/>
          </a:xfrm>
        </p:grpSpPr>
        <p:cxnSp>
          <p:nvCxnSpPr>
            <p:cNvPr id="796" name="Google Shape;796;p88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88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88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9" name="Google Shape;799;p88"/>
          <p:cNvGrpSpPr/>
          <p:nvPr/>
        </p:nvGrpSpPr>
        <p:grpSpPr>
          <a:xfrm>
            <a:off x="4970338" y="1872218"/>
            <a:ext cx="644025" cy="121200"/>
            <a:chOff x="5238750" y="1016375"/>
            <a:chExt cx="644025" cy="121200"/>
          </a:xfrm>
        </p:grpSpPr>
        <p:cxnSp>
          <p:nvCxnSpPr>
            <p:cNvPr id="800" name="Google Shape;800;p88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88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88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3" name="Google Shape;803;p88"/>
          <p:cNvGrpSpPr/>
          <p:nvPr/>
        </p:nvGrpSpPr>
        <p:grpSpPr>
          <a:xfrm>
            <a:off x="4970338" y="2892518"/>
            <a:ext cx="644025" cy="121200"/>
            <a:chOff x="5238750" y="1016375"/>
            <a:chExt cx="644025" cy="121200"/>
          </a:xfrm>
        </p:grpSpPr>
        <p:cxnSp>
          <p:nvCxnSpPr>
            <p:cNvPr id="804" name="Google Shape;804;p88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88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88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7" name="Google Shape;807;p88"/>
          <p:cNvGrpSpPr/>
          <p:nvPr/>
        </p:nvGrpSpPr>
        <p:grpSpPr>
          <a:xfrm>
            <a:off x="4970338" y="3912818"/>
            <a:ext cx="644025" cy="121200"/>
            <a:chOff x="5238750" y="1016375"/>
            <a:chExt cx="644025" cy="121200"/>
          </a:xfrm>
        </p:grpSpPr>
        <p:cxnSp>
          <p:nvCxnSpPr>
            <p:cNvPr id="808" name="Google Shape;808;p88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88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p88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1" name="Google Shape;811;p88"/>
          <p:cNvSpPr txBox="1"/>
          <p:nvPr>
            <p:ph type="title"/>
          </p:nvPr>
        </p:nvSpPr>
        <p:spPr>
          <a:xfrm>
            <a:off x="436725" y="1231825"/>
            <a:ext cx="2301900" cy="10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Scope</a:t>
            </a:r>
            <a:r>
              <a:rPr lang="en" sz="1500"/>
              <a:t>:</a:t>
            </a:r>
            <a:r>
              <a:rPr lang="en" sz="1700"/>
              <a:t> </a:t>
            </a:r>
            <a:r>
              <a:rPr lang="en" sz="1400"/>
              <a:t>Develop an integrated, data-driven framework to derive value from  Airbnb data.</a:t>
            </a:r>
            <a:endParaRPr/>
          </a:p>
        </p:txBody>
      </p:sp>
      <p:sp>
        <p:nvSpPr>
          <p:cNvPr id="812" name="Google Shape;812;p88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1: </a:t>
            </a:r>
            <a:r>
              <a:rPr lang="en"/>
              <a:t>Prediction</a:t>
            </a:r>
            <a:r>
              <a:rPr lang="en"/>
              <a:t> Model</a:t>
            </a:r>
            <a:endParaRPr/>
          </a:p>
        </p:txBody>
      </p:sp>
      <p:sp>
        <p:nvSpPr>
          <p:cNvPr id="813" name="Google Shape;813;p88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 a predictive model to predict optimal listings price and identify influential attributes.</a:t>
            </a:r>
            <a:endParaRPr/>
          </a:p>
        </p:txBody>
      </p:sp>
      <p:sp>
        <p:nvSpPr>
          <p:cNvPr id="814" name="Google Shape;814;p88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2: </a:t>
            </a:r>
            <a:r>
              <a:rPr lang="en"/>
              <a:t>Sentiment</a:t>
            </a:r>
            <a:r>
              <a:rPr lang="en"/>
              <a:t> analysis</a:t>
            </a:r>
            <a:endParaRPr/>
          </a:p>
        </p:txBody>
      </p:sp>
      <p:sp>
        <p:nvSpPr>
          <p:cNvPr id="815" name="Google Shape;815;p88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guest reviews and satisfaction to quantify </a:t>
            </a:r>
            <a:r>
              <a:rPr lang="en"/>
              <a:t>relationship</a:t>
            </a:r>
            <a:r>
              <a:rPr lang="en"/>
              <a:t> with </a:t>
            </a:r>
            <a:r>
              <a:rPr lang="en"/>
              <a:t>performance</a:t>
            </a:r>
            <a:r>
              <a:rPr lang="en"/>
              <a:t> trends.</a:t>
            </a:r>
            <a:endParaRPr/>
          </a:p>
        </p:txBody>
      </p:sp>
      <p:sp>
        <p:nvSpPr>
          <p:cNvPr id="816" name="Google Shape;816;p88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3: Recommender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88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</a:t>
            </a:r>
            <a:r>
              <a:rPr lang="en"/>
              <a:t> collaborative filtering for optimized guest discovery based on listings traits.</a:t>
            </a:r>
            <a:endParaRPr/>
          </a:p>
        </p:txBody>
      </p:sp>
      <p:sp>
        <p:nvSpPr>
          <p:cNvPr id="818" name="Google Shape;818;p88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4: Actionable insights</a:t>
            </a:r>
            <a:endParaRPr sz="14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88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Synthesises output into an interactive tool.</a:t>
            </a:r>
            <a:endParaRPr/>
          </a:p>
        </p:txBody>
      </p:sp>
      <p:pic>
        <p:nvPicPr>
          <p:cNvPr id="820" name="Google Shape;820;p88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88"/>
          <p:cNvSpPr txBox="1"/>
          <p:nvPr/>
        </p:nvSpPr>
        <p:spPr>
          <a:xfrm>
            <a:off x="2423700" y="146475"/>
            <a:ext cx="512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</a:t>
            </a:r>
            <a:r>
              <a:rPr lang="en" sz="26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r>
              <a:rPr lang="en" sz="26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sz="26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Google Shape;826;p89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89"/>
          <p:cNvSpPr txBox="1"/>
          <p:nvPr>
            <p:ph idx="4294967295" type="body"/>
          </p:nvPr>
        </p:nvSpPr>
        <p:spPr>
          <a:xfrm>
            <a:off x="277500" y="2043275"/>
            <a:ext cx="1986900" cy="17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Host:</a:t>
            </a:r>
            <a:r>
              <a:rPr lang="en" sz="1400"/>
              <a:t> Relies mostly on social learning; lack sophisticated Pricing tools.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Guests:</a:t>
            </a:r>
            <a:r>
              <a:rPr lang="en" sz="1400"/>
              <a:t>  Face information overload and difficulty assessing listing quality.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28" name="Google Shape;828;p89"/>
          <p:cNvSpPr txBox="1"/>
          <p:nvPr>
            <p:ph idx="4294967295" type="body"/>
          </p:nvPr>
        </p:nvSpPr>
        <p:spPr>
          <a:xfrm>
            <a:off x="3218013" y="1979375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Predictive modelling:</a:t>
            </a:r>
            <a:r>
              <a:rPr lang="en" sz="1400"/>
              <a:t> Actionable price predictions to optimize host revenue.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Recommender System:</a:t>
            </a:r>
            <a:r>
              <a:rPr lang="en" sz="1400"/>
              <a:t>  Personalised filtering to simplify the guest journey.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29" name="Google Shape;829;p89"/>
          <p:cNvSpPr txBox="1"/>
          <p:nvPr>
            <p:ph idx="4294967295" type="body"/>
          </p:nvPr>
        </p:nvSpPr>
        <p:spPr>
          <a:xfrm>
            <a:off x="6548375" y="2011325"/>
            <a:ext cx="1986900" cy="12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</a:t>
            </a:r>
            <a:r>
              <a:rPr lang="en" sz="1400"/>
              <a:t>revious research has treated price prediction and recommendation system problem  separately, their integration is key to holistic marketplace experience.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A unified analytical framework for the Dublin market.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89"/>
          <p:cNvSpPr txBox="1"/>
          <p:nvPr/>
        </p:nvSpPr>
        <p:spPr>
          <a:xfrm>
            <a:off x="913800" y="594375"/>
            <a:ext cx="82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Motivation / </a:t>
            </a:r>
            <a:r>
              <a:rPr lang="en" sz="32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Rational.</a:t>
            </a:r>
            <a:endParaRPr sz="32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31" name="Google Shape;831;p89"/>
          <p:cNvSpPr txBox="1"/>
          <p:nvPr/>
        </p:nvSpPr>
        <p:spPr>
          <a:xfrm>
            <a:off x="277500" y="1594300"/>
            <a:ext cx="2710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</a:t>
            </a:r>
            <a:endParaRPr b="1" sz="17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32" name="Google Shape;832;p89"/>
          <p:cNvSpPr txBox="1"/>
          <p:nvPr/>
        </p:nvSpPr>
        <p:spPr>
          <a:xfrm>
            <a:off x="3216750" y="1594300"/>
            <a:ext cx="2710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Solution</a:t>
            </a:r>
            <a:endParaRPr b="1" sz="17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33" name="Google Shape;833;p89"/>
          <p:cNvSpPr txBox="1"/>
          <p:nvPr/>
        </p:nvSpPr>
        <p:spPr>
          <a:xfrm>
            <a:off x="6548375" y="1594300"/>
            <a:ext cx="2293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Goal</a:t>
            </a:r>
            <a:endParaRPr b="1" sz="17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38;p90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90"/>
          <p:cNvSpPr txBox="1"/>
          <p:nvPr>
            <p:ph idx="4294967295" type="subTitle"/>
          </p:nvPr>
        </p:nvSpPr>
        <p:spPr>
          <a:xfrm>
            <a:off x="451175" y="1404975"/>
            <a:ext cx="24252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Inside Airbnb, a mission-driven, grassroots project providing transparent, non-commercial rental data.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Dublin was selected due to its high-density tourism profile and complex real estate market.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Scope: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research utilizes two primary relational datasets: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90"/>
          <p:cNvSpPr txBox="1"/>
          <p:nvPr>
            <p:ph idx="3" type="subTitle"/>
          </p:nvPr>
        </p:nvSpPr>
        <p:spPr>
          <a:xfrm>
            <a:off x="3432000" y="2268350"/>
            <a:ext cx="2557500" cy="14304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Listings Dataset </a:t>
            </a:r>
            <a:r>
              <a:rPr b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(listings.csv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Detailed attributes of each property.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Price, location (coordinates), Host characteristics property type, room type, and review scores.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90"/>
          <p:cNvSpPr txBox="1"/>
          <p:nvPr>
            <p:ph idx="4294967295" type="subTitle"/>
          </p:nvPr>
        </p:nvSpPr>
        <p:spPr>
          <a:xfrm>
            <a:off x="6385900" y="1294075"/>
            <a:ext cx="2557500" cy="135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Reviews Dataset (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reviews.csv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Historical guest feedback and timestamps.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Reviewer ID, Date, and Comment text.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300"/>
          </a:p>
        </p:txBody>
      </p:sp>
      <p:sp>
        <p:nvSpPr>
          <p:cNvPr id="842" name="Google Shape;842;p90"/>
          <p:cNvSpPr txBox="1"/>
          <p:nvPr>
            <p:ph idx="4294967295" type="title"/>
          </p:nvPr>
        </p:nvSpPr>
        <p:spPr>
          <a:xfrm>
            <a:off x="1934400" y="310938"/>
            <a:ext cx="55527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900"/>
              <a:t>Data Description</a:t>
            </a:r>
            <a:endParaRPr b="1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91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91"/>
          <p:cNvSpPr txBox="1"/>
          <p:nvPr/>
        </p:nvSpPr>
        <p:spPr>
          <a:xfrm>
            <a:off x="365000" y="1494138"/>
            <a:ext cx="40722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Price Prediction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https://predictiveperformanceanalysisofairbnbmetrics-4asnlpyjsjc42588x.streamlit.app/</a:t>
            </a:r>
            <a:r>
              <a:rPr lang="en" sz="1300"/>
              <a:t>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849" name="Google Shape;849;p91"/>
          <p:cNvSpPr txBox="1"/>
          <p:nvPr/>
        </p:nvSpPr>
        <p:spPr>
          <a:xfrm>
            <a:off x="4812750" y="1408425"/>
            <a:ext cx="40722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Recommendation System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5"/>
              </a:rPr>
              <a:t>https://predictiveperformanceanalysisofairbnbmetrics-8bysfmucc3l2hpevc.streamlit.app</a:t>
            </a:r>
            <a:r>
              <a:rPr lang="en" sz="1300"/>
              <a:t>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850" name="Google Shape;850;p91"/>
          <p:cNvSpPr txBox="1"/>
          <p:nvPr/>
        </p:nvSpPr>
        <p:spPr>
          <a:xfrm>
            <a:off x="2932200" y="228588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Interactive </a:t>
            </a: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</a:t>
            </a: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 (</a:t>
            </a: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Artefact)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51" name="Google Shape;851;p91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5000" y="2223450"/>
            <a:ext cx="3944650" cy="207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91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12750" y="2223450"/>
            <a:ext cx="4053752" cy="207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92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92"/>
          <p:cNvSpPr txBox="1"/>
          <p:nvPr>
            <p:ph idx="4294967295" type="title"/>
          </p:nvPr>
        </p:nvSpPr>
        <p:spPr>
          <a:xfrm>
            <a:off x="1934400" y="310938"/>
            <a:ext cx="55527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900"/>
              <a:t>Methodology</a:t>
            </a:r>
            <a:r>
              <a:rPr b="1" lang="en" sz="1900"/>
              <a:t> &amp; Work Flow</a:t>
            </a:r>
            <a:endParaRPr b="1" sz="1900"/>
          </a:p>
        </p:txBody>
      </p:sp>
      <p:pic>
        <p:nvPicPr>
          <p:cNvPr id="859" name="Google Shape;85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27775"/>
            <a:ext cx="8839200" cy="290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92"/>
          <p:cNvSpPr txBox="1"/>
          <p:nvPr/>
        </p:nvSpPr>
        <p:spPr>
          <a:xfrm>
            <a:off x="506725" y="4285888"/>
            <a:ext cx="74106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Data split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test_size=0.2, random_state=42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5" name="Google Shape;865;p93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93"/>
          <p:cNvSpPr txBox="1"/>
          <p:nvPr/>
        </p:nvSpPr>
        <p:spPr>
          <a:xfrm>
            <a:off x="3063300" y="844488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Price Prediction Model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67" name="Google Shape;867;p93"/>
          <p:cNvSpPr txBox="1"/>
          <p:nvPr/>
        </p:nvSpPr>
        <p:spPr>
          <a:xfrm>
            <a:off x="3063300" y="228600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 and Conclusion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68" name="Google Shape;86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27775"/>
            <a:ext cx="8839200" cy="3748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94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94"/>
          <p:cNvSpPr txBox="1"/>
          <p:nvPr/>
        </p:nvSpPr>
        <p:spPr>
          <a:xfrm>
            <a:off x="3063300" y="844488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Price Prediction Model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75" name="Google Shape;875;p94"/>
          <p:cNvSpPr txBox="1"/>
          <p:nvPr/>
        </p:nvSpPr>
        <p:spPr>
          <a:xfrm>
            <a:off x="3063300" y="228600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 and Conclusion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76" name="Google Shape;876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27775"/>
            <a:ext cx="8839201" cy="3751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95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95"/>
          <p:cNvSpPr txBox="1"/>
          <p:nvPr/>
        </p:nvSpPr>
        <p:spPr>
          <a:xfrm>
            <a:off x="2932200" y="228588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 and Conclusion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83" name="Google Shape;883;p95"/>
          <p:cNvSpPr txBox="1"/>
          <p:nvPr/>
        </p:nvSpPr>
        <p:spPr>
          <a:xfrm>
            <a:off x="2932200" y="764450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Recommendation System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84" name="Google Shape;88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27775"/>
            <a:ext cx="8839200" cy="31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p96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96"/>
          <p:cNvSpPr txBox="1"/>
          <p:nvPr>
            <p:ph idx="4294967295" type="title"/>
          </p:nvPr>
        </p:nvSpPr>
        <p:spPr>
          <a:xfrm>
            <a:off x="1934400" y="310938"/>
            <a:ext cx="55527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900"/>
              <a:t>Benefits / Limitation</a:t>
            </a:r>
            <a:endParaRPr b="1" sz="1900"/>
          </a:p>
        </p:txBody>
      </p:sp>
      <p:sp>
        <p:nvSpPr>
          <p:cNvPr id="891" name="Google Shape;891;p96"/>
          <p:cNvSpPr txBox="1"/>
          <p:nvPr>
            <p:ph idx="4294967295" type="title"/>
          </p:nvPr>
        </p:nvSpPr>
        <p:spPr>
          <a:xfrm>
            <a:off x="579950" y="1435350"/>
            <a:ext cx="55527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600"/>
              <a:t>Benefits of price prediction</a:t>
            </a:r>
            <a:endParaRPr b="1" sz="19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Revenue Optimization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Market Alignment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Real time decision support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Interpretability</a:t>
            </a:r>
            <a:endParaRPr sz="1600"/>
          </a:p>
        </p:txBody>
      </p:sp>
      <p:sp>
        <p:nvSpPr>
          <p:cNvPr id="892" name="Google Shape;892;p96"/>
          <p:cNvSpPr txBox="1"/>
          <p:nvPr>
            <p:ph idx="4294967295" type="title"/>
          </p:nvPr>
        </p:nvSpPr>
        <p:spPr>
          <a:xfrm>
            <a:off x="579950" y="3255200"/>
            <a:ext cx="4541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600"/>
              <a:t>Benefits of Recommendation system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Personalization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Reduced search time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Better Decision making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Business impact</a:t>
            </a:r>
            <a:endParaRPr sz="1600"/>
          </a:p>
        </p:txBody>
      </p:sp>
      <p:sp>
        <p:nvSpPr>
          <p:cNvPr id="893" name="Google Shape;893;p96"/>
          <p:cNvSpPr txBox="1"/>
          <p:nvPr/>
        </p:nvSpPr>
        <p:spPr>
          <a:xfrm>
            <a:off x="4320525" y="1229600"/>
            <a:ext cx="44283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Limitations of Price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Lack of 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external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factors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Potential bias in 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historical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data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 model may not generalize well outside dublin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These could be addressed in future work with richer data sets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96"/>
          <p:cNvSpPr txBox="1"/>
          <p:nvPr/>
        </p:nvSpPr>
        <p:spPr>
          <a:xfrm>
            <a:off x="4438200" y="3117900"/>
            <a:ext cx="44283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Limitations of Recommendation system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Cold start problems for new users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Dependance on historical interaction data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Lack of contextual factors like time or intent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These could be improved by introducing hybrid recommendation approaches.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97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97"/>
          <p:cNvSpPr txBox="1"/>
          <p:nvPr/>
        </p:nvSpPr>
        <p:spPr>
          <a:xfrm>
            <a:off x="187650" y="1678350"/>
            <a:ext cx="7464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Future Work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/>
              <a:t>implement</a:t>
            </a:r>
            <a:r>
              <a:rPr lang="en" sz="1500"/>
              <a:t> deep learning approaches (e.g., neural collaborative filtering)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500"/>
              <a:buFont typeface="IBM Plex Sans"/>
              <a:buChar char="●"/>
            </a:pPr>
            <a:r>
              <a:rPr lang="en" sz="1500"/>
              <a:t>Expand analysis to multiple cities.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500"/>
              <a:buFont typeface="IBM Plex Sans"/>
              <a:buChar char="●"/>
            </a:pPr>
            <a:r>
              <a:rPr lang="en" sz="1500"/>
              <a:t>Incorporate real-time dynamic pricing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500"/>
              <a:buFont typeface="IBM Plex Sans"/>
              <a:buChar char="●"/>
            </a:pPr>
            <a:r>
              <a:rPr lang="en" sz="1500"/>
              <a:t>Develop hybrid recommendation systems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01" name="Google Shape;901;p97"/>
          <p:cNvSpPr txBox="1"/>
          <p:nvPr/>
        </p:nvSpPr>
        <p:spPr>
          <a:xfrm>
            <a:off x="2932200" y="228588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Work / Tech Stack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2" name="Google Shape;902;p97"/>
          <p:cNvSpPr txBox="1"/>
          <p:nvPr/>
        </p:nvSpPr>
        <p:spPr>
          <a:xfrm>
            <a:off x="277500" y="3333600"/>
            <a:ext cx="7464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Tech Stack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/>
              <a:t>Python (Pandas, NumPy, Scikit-learn)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500"/>
              <a:buFont typeface="IBM Plex Sans"/>
              <a:buChar char="●"/>
            </a:pPr>
            <a:r>
              <a:rPr lang="en" sz="1500"/>
              <a:t>XGBoost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500"/>
              <a:buFont typeface="IBM Plex Sans"/>
              <a:buChar char="●"/>
            </a:pPr>
            <a:r>
              <a:rPr lang="en" sz="1500"/>
              <a:t>Surprise Library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500"/>
              <a:buFont typeface="IBM Plex Sans"/>
              <a:buChar char="●"/>
            </a:pPr>
            <a:r>
              <a:rPr lang="en" sz="1500"/>
              <a:t>NLP (Sentiment Analysis)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500"/>
              <a:buFont typeface="IBM Plex Sans"/>
              <a:buChar char="●"/>
            </a:pPr>
            <a:r>
              <a:rPr lang="en" sz="1500"/>
              <a:t>Streamlit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98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</p:txBody>
      </p:sp>
      <p:pic>
        <p:nvPicPr>
          <p:cNvPr id="908" name="Google Shape;908;p98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3" name="Google Shape;913;p99"/>
          <p:cNvCxnSpPr/>
          <p:nvPr/>
        </p:nvCxnSpPr>
        <p:spPr>
          <a:xfrm>
            <a:off x="4742425" y="2553350"/>
            <a:ext cx="0" cy="2590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4" name="Google Shape;914;p99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915" name="Google Shape;915;p99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aghedoemmanuel67@yahoo.com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6" name="Google Shape;916;p99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